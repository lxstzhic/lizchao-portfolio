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1628" r:id="rId3"/>
    <p:sldId id="1634" r:id="rId4"/>
    <p:sldId id="1636" r:id="rId5"/>
    <p:sldId id="1637" r:id="rId6"/>
    <p:sldId id="1638" r:id="rId7"/>
    <p:sldId id="1639" r:id="rId8"/>
    <p:sldId id="1640" r:id="rId9"/>
    <p:sldId id="164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15F73-2595-4DDD-853A-0CCFB782701E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4E7CD-B38A-4436-9422-A795C1BBC2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1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6A449C-24E9-4E65-BC24-2C74832CF16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219D2-22C4-295F-6C53-B2AE48C2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F8A44C-C1AC-6A0D-726D-517AE6E6C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895280-A99C-912B-1D82-C18864F1F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3CDCDE-5FBF-DCD7-4B8D-EF3163C49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6A449C-24E9-4E65-BC24-2C74832CF1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533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372F9-25F6-D965-CFD9-0346975E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F58377-39E3-A8EB-70FD-93C705D44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EEE8E8-DD64-64FB-7341-E0EF3B9CE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6CFAD-1D78-DD08-1821-C57646B21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6A449C-24E9-4E65-BC24-2C74832CF1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03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B0075-EB63-10A4-3536-1F46C18A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C6D649-8ED2-F1B3-0B59-A2785CDD5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A9952E-7D8C-D2AA-0394-9E52FEBB7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96F289-D5C6-C68A-EF95-25F22DBF21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6A449C-24E9-4E65-BC24-2C74832CF16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778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9649-9452-5185-8840-91691A59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4DF7BC-630D-190F-3E45-CCDD6EA02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B17BBD-5169-C98A-188B-8C375BE0B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19B412-60B9-9F1A-B215-703EAF959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6A449C-24E9-4E65-BC24-2C74832CF1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101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A971-4E53-12D4-8FA8-92476688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2355D8-B561-5958-EA3B-43EC01042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CDFC37-FAB2-6AB3-52A3-B526B0A32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FB2D62-8434-6C4C-B34F-4CFCE9E26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6A449C-24E9-4E65-BC24-2C74832CF1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811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A8F9B-F791-0705-2DF7-3E3A06E64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50B7B2-F41B-A771-7DBA-CF129F0CC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0BC60C-9F89-068E-1311-904594162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52C94D-3057-AA92-2157-118CAE97E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6A449C-24E9-4E65-BC24-2C74832CF1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582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5DA2-1C5A-2A27-A6A8-B296D74E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AD6FA6-3B32-D66F-8705-CDB0E6518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FB57A8-D3AA-B5A0-2AC6-E7162D5B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9881A8-CC5F-47F2-4ABD-5D84F16B2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6A449C-24E9-4E65-BC24-2C74832CF1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660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1E2BA6-2004-6B34-949B-DE9F2BB12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C405A4-88B2-A41F-5393-FD68A0C5F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D1804-FC6C-C47C-CBD9-F456FEAE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046FC4-1481-0F10-54E0-C8A1A62A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F8D85-8757-5509-CDB3-FF3A6569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13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08885-EBDD-2074-54AC-9FF28314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3A96D-FC20-25D5-CE1E-3C43CF30A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12F7A-2641-72A0-EAB5-2C2AF6D2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ABEC8C-6D6E-96F0-B7FF-5D39B350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9F41BF-2D40-9AA8-C4F1-BCD9689D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699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065B2-B080-E74E-0F5B-007467614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59DEDD-F73C-CA30-4139-637841C23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A1B05D-3C94-9FBA-A514-E43C04FA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F6F90-F261-5B99-2534-9042456D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15DB92-C49D-26BF-2E34-F6D94782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42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BC74C-839C-0167-1E31-5199B24A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18ED6-526B-1B17-5627-EB33629E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1B4DD6-54BF-8578-F1E3-07D9C679B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0AF99C-B195-CAD0-D3D1-018760DD5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9273E-80F6-33DB-030B-BD3D1AE04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74376B-455F-BBA0-471F-81646BDD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65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943115-2DAB-298C-1479-83E9924A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EBC35B-AE97-1734-1D91-8D7E67C77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470FC7-757C-DF13-1DDB-D211B41CE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836CF4-E036-869C-715B-A4321C528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DDD9BF-73F0-28B2-1E6D-6B07C0EEE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6C28FB-1295-3041-17C8-9832A36F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706EC2-D996-61D0-9D7E-116C8FBD5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8ED581-B55D-B296-FDB1-2C63B19A8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90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DD034-3871-C0C8-6407-5B85AF47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7FA405-AE67-5AC7-9EBD-638D30C5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9C98F1-088C-639E-8EB1-234DD333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5AFE83-8C98-ABE4-F7CF-C63260AA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198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D68614-B3D9-0823-DFDB-0B82B2E7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C09A28-4082-3EC3-51DC-EC04AF07B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20B87F-8B7C-30C0-300A-9679D729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57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9B876-CFE8-FBD6-24F9-FB9A59A4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F76AD-778F-49F2-9791-D02AD156D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A41C1A-2737-C1AB-7342-FDA9D9EAE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96DA2B-4A79-1D33-6688-476C5C316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85DB34-6D26-D08A-0EFF-264D1E8D7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667D07-9187-84FE-D20B-D484A848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33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760A5-72D5-CA6E-D765-7037778C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BFB64D-2BA4-2981-D3FA-3FAB41BA1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636B44-5ABC-9D2F-CEFE-E0B73C438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6753C0-BE2C-6051-B196-ADBFEE6A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C92FE3-449B-CA8A-AA83-8CBBD4E0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E00127-6B64-C9CD-5233-29ADDF0C2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739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4929E-BB4E-D35A-9B1A-10076226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596D78-1AE1-0B06-B8B4-35199A914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B024AF-47AA-1B6C-5D3C-99689AD88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E04B1E-942B-D448-546E-6F5FEBC4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94089A-A38E-DC99-6544-37A8783C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97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E62FE6F-7777-971E-DA07-56D6F3EE3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362FD1-CC2B-8DC7-A8F5-20BBF50A3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DE4184-D6FB-CD93-DDE5-07B8134F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199DC5-49CD-2052-5D15-F1DF0CFA9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DD8E02-05A4-777A-5CA7-FF7A6D17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69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824D60-A777-7224-8694-409F43288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D2D1F0-D124-3E23-5E9B-ADF4E5189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223ED4-98B3-7E34-76BA-33792B5C24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B3619-E23D-4F92-B0BC-125466FC1E8F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0A1C7D-EF42-8AE8-B7B7-859B557F0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8552C4-E722-8736-A974-3682AA3AB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6B459-93C2-47C1-A009-743B2C802B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96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D93BB1D-006B-A681-C134-D3DF6322E9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7215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1C37000-53CF-3576-4C39-996DD9C3B50E}"/>
              </a:ext>
            </a:extLst>
          </p:cNvPr>
          <p:cNvSpPr/>
          <p:nvPr/>
        </p:nvSpPr>
        <p:spPr>
          <a:xfrm>
            <a:off x="0" y="1439200"/>
            <a:ext cx="12192000" cy="1780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5" tIns="34288" rIns="68575" bIns="34288" anchor="ctr"/>
          <a:lstStyle/>
          <a:p>
            <a:pPr algn="ctr">
              <a:lnSpc>
                <a:spcPct val="135000"/>
              </a:lnSpc>
              <a:defRPr/>
            </a:pPr>
            <a:r>
              <a:rPr lang="en-US" altLang="zh-CN" sz="3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第七十三夜</a:t>
            </a:r>
            <a:r>
              <a:rPr lang="en-US" altLang="zh-CN" sz="3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algn="ctr">
              <a:lnSpc>
                <a:spcPct val="135000"/>
              </a:lnSpc>
              <a:defRPr/>
            </a:pPr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知识驱动像素解谜探索游戏</a:t>
            </a:r>
            <a:endParaRPr lang="en-US" altLang="zh-CN" sz="36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850656-AEA4-B46F-AE60-69B8EC3CB7E2}"/>
              </a:ext>
            </a:extLst>
          </p:cNvPr>
          <p:cNvSpPr txBox="1"/>
          <p:nvPr/>
        </p:nvSpPr>
        <p:spPr>
          <a:xfrm>
            <a:off x="8088453" y="6341382"/>
            <a:ext cx="4173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独立制作｜</a:t>
            </a:r>
            <a:r>
              <a:rPr lang="en-US" altLang="zh-CN" sz="1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Unity</a:t>
            </a:r>
            <a:r>
              <a:rPr lang="zh-CN" altLang="en-US" sz="1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｜</a:t>
            </a:r>
            <a:r>
              <a:rPr lang="en-US" altLang="zh-CN" sz="1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2026.07–2026.08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009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59184" y="2"/>
            <a:ext cx="12032816" cy="779145"/>
            <a:chOff x="830909" y="0"/>
            <a:chExt cx="11361091" cy="1037477"/>
          </a:xfrm>
        </p:grpSpPr>
        <p:sp>
          <p:nvSpPr>
            <p:cNvPr id="4" name="矩形 3"/>
            <p:cNvSpPr/>
            <p:nvPr/>
          </p:nvSpPr>
          <p:spPr>
            <a:xfrm>
              <a:off x="1623965" y="198702"/>
              <a:ext cx="3036858" cy="596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项目概览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1016000" y="0"/>
              <a:ext cx="91440" cy="970280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sp>
          <p:nvSpPr>
            <p:cNvPr id="6" name="矩形 5"/>
            <p:cNvSpPr/>
            <p:nvPr/>
          </p:nvSpPr>
          <p:spPr>
            <a:xfrm>
              <a:off x="1016000" y="885648"/>
              <a:ext cx="11176000" cy="94791"/>
            </a:xfrm>
            <a:prstGeom prst="rect">
              <a:avLst/>
            </a:prstGeom>
            <a:solidFill>
              <a:srgbClr val="00007F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1016000" y="1027872"/>
              <a:ext cx="11176000" cy="9605"/>
            </a:xfrm>
            <a:prstGeom prst="line">
              <a:avLst/>
            </a:prstGeom>
            <a:ln w="38100">
              <a:solidFill>
                <a:srgbClr val="0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830909" y="313798"/>
              <a:ext cx="478779" cy="439996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b="1" dirty="0">
                  <a:latin typeface="Times New Roman Bold" panose="02020603050405020304" charset="0"/>
                  <a:ea typeface="微软雅黑" panose="020B0503020204020204" pitchFamily="34" charset="-122"/>
                  <a:cs typeface="Times New Roman Bold" panose="02020603050405020304" charset="0"/>
                </a:rPr>
                <a:t>1</a:t>
              </a:r>
            </a:p>
          </p:txBody>
        </p:sp>
      </p:grpSp>
      <p:pic>
        <p:nvPicPr>
          <p:cNvPr id="1033" name="图片 1032">
            <a:extLst>
              <a:ext uri="{FF2B5EF4-FFF2-40B4-BE49-F238E27FC236}">
                <a16:creationId xmlns:a16="http://schemas.microsoft.com/office/drawing/2014/main" id="{401D40F9-2E3F-6258-52C1-C45B62A761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426" b="26059"/>
          <a:stretch>
            <a:fillRect/>
          </a:stretch>
        </p:blipFill>
        <p:spPr>
          <a:xfrm>
            <a:off x="159184" y="1587864"/>
            <a:ext cx="3851532" cy="1620000"/>
          </a:xfrm>
          <a:prstGeom prst="rect">
            <a:avLst/>
          </a:prstGeom>
        </p:spPr>
      </p:pic>
      <p:pic>
        <p:nvPicPr>
          <p:cNvPr id="1035" name="图片 1034">
            <a:extLst>
              <a:ext uri="{FF2B5EF4-FFF2-40B4-BE49-F238E27FC236}">
                <a16:creationId xmlns:a16="http://schemas.microsoft.com/office/drawing/2014/main" id="{B3A8275A-5D55-5447-2462-7C166A3D12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6" t="301" r="-776" b="26872"/>
          <a:stretch>
            <a:fillRect/>
          </a:stretch>
        </p:blipFill>
        <p:spPr>
          <a:xfrm>
            <a:off x="4215541" y="1587864"/>
            <a:ext cx="4327977" cy="1620000"/>
          </a:xfrm>
          <a:prstGeom prst="rect">
            <a:avLst/>
          </a:prstGeom>
        </p:spPr>
      </p:pic>
      <p:pic>
        <p:nvPicPr>
          <p:cNvPr id="1040" name="图片 1039">
            <a:extLst>
              <a:ext uri="{FF2B5EF4-FFF2-40B4-BE49-F238E27FC236}">
                <a16:creationId xmlns:a16="http://schemas.microsoft.com/office/drawing/2014/main" id="{31901F2F-66F4-1F88-71C7-5D2D6F425BA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6283"/>
          <a:stretch>
            <a:fillRect/>
          </a:stretch>
        </p:blipFill>
        <p:spPr>
          <a:xfrm>
            <a:off x="8185174" y="1587864"/>
            <a:ext cx="4361576" cy="1620000"/>
          </a:xfrm>
          <a:prstGeom prst="rect">
            <a:avLst/>
          </a:prstGeom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3D59D369-F744-E495-AD5C-9E2B6481391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6953"/>
          <a:stretch>
            <a:fillRect/>
          </a:stretch>
        </p:blipFill>
        <p:spPr>
          <a:xfrm>
            <a:off x="159184" y="3975028"/>
            <a:ext cx="4321257" cy="1620000"/>
          </a:xfrm>
          <a:prstGeom prst="rect">
            <a:avLst/>
          </a:prstGeom>
        </p:spPr>
      </p:pic>
      <p:pic>
        <p:nvPicPr>
          <p:cNvPr id="1043" name="图片 1042">
            <a:extLst>
              <a:ext uri="{FF2B5EF4-FFF2-40B4-BE49-F238E27FC236}">
                <a16:creationId xmlns:a16="http://schemas.microsoft.com/office/drawing/2014/main" id="{BBDDF578-08B8-ACD3-F1F4-09F2F91C1F3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7393"/>
          <a:stretch>
            <a:fillRect/>
          </a:stretch>
        </p:blipFill>
        <p:spPr>
          <a:xfrm>
            <a:off x="4215541" y="3975028"/>
            <a:ext cx="4361579" cy="1620000"/>
          </a:xfrm>
          <a:prstGeom prst="rect">
            <a:avLst/>
          </a:prstGeom>
        </p:spPr>
      </p:pic>
      <p:pic>
        <p:nvPicPr>
          <p:cNvPr id="1044" name="图片 1043">
            <a:extLst>
              <a:ext uri="{FF2B5EF4-FFF2-40B4-BE49-F238E27FC236}">
                <a16:creationId xmlns:a16="http://schemas.microsoft.com/office/drawing/2014/main" id="{37DC6C3C-4BC5-F0FC-07F1-F7194B00B3A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27173"/>
          <a:stretch>
            <a:fillRect/>
          </a:stretch>
        </p:blipFill>
        <p:spPr>
          <a:xfrm>
            <a:off x="8185174" y="3975028"/>
            <a:ext cx="4321257" cy="1620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7F4AB-F599-5804-77FE-42E03458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ADB4CF04-2BD7-2448-B89C-58463CEFED57}"/>
              </a:ext>
            </a:extLst>
          </p:cNvPr>
          <p:cNvGrpSpPr/>
          <p:nvPr/>
        </p:nvGrpSpPr>
        <p:grpSpPr>
          <a:xfrm>
            <a:off x="159184" y="2"/>
            <a:ext cx="12032816" cy="779145"/>
            <a:chOff x="830909" y="0"/>
            <a:chExt cx="11361091" cy="103747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BC3D5E2-7F02-ADAB-C2B9-9C6987309DE6}"/>
                </a:ext>
              </a:extLst>
            </p:cNvPr>
            <p:cNvSpPr/>
            <p:nvPr/>
          </p:nvSpPr>
          <p:spPr>
            <a:xfrm>
              <a:off x="1623965" y="198702"/>
              <a:ext cx="3036858" cy="596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设计目标与约束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BE7AE78-29C3-B8C7-C4DB-D2C33A93D561}"/>
                </a:ext>
              </a:extLst>
            </p:cNvPr>
            <p:cNvSpPr/>
            <p:nvPr/>
          </p:nvSpPr>
          <p:spPr>
            <a:xfrm>
              <a:off x="1016000" y="0"/>
              <a:ext cx="91440" cy="970280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E00DC57-7F2F-E371-C2B6-AEEA656BAD2F}"/>
                </a:ext>
              </a:extLst>
            </p:cNvPr>
            <p:cNvSpPr/>
            <p:nvPr/>
          </p:nvSpPr>
          <p:spPr>
            <a:xfrm>
              <a:off x="1016000" y="885648"/>
              <a:ext cx="11176000" cy="94791"/>
            </a:xfrm>
            <a:prstGeom prst="rect">
              <a:avLst/>
            </a:prstGeom>
            <a:solidFill>
              <a:srgbClr val="00007F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75D6C24-46DB-1863-4574-CADA743CC360}"/>
                </a:ext>
              </a:extLst>
            </p:cNvPr>
            <p:cNvCxnSpPr/>
            <p:nvPr/>
          </p:nvCxnSpPr>
          <p:spPr>
            <a:xfrm flipV="1">
              <a:off x="1016000" y="1027872"/>
              <a:ext cx="11176000" cy="9605"/>
            </a:xfrm>
            <a:prstGeom prst="line">
              <a:avLst/>
            </a:prstGeom>
            <a:ln w="38100">
              <a:solidFill>
                <a:srgbClr val="0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05E69E1-38C2-3F23-B058-ADA81E863874}"/>
                </a:ext>
              </a:extLst>
            </p:cNvPr>
            <p:cNvSpPr/>
            <p:nvPr/>
          </p:nvSpPr>
          <p:spPr>
            <a:xfrm>
              <a:off x="830909" y="313798"/>
              <a:ext cx="478779" cy="439996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b="1" dirty="0">
                  <a:latin typeface="Times New Roman Bold" panose="02020603050405020304" charset="0"/>
                  <a:ea typeface="微软雅黑" panose="020B0503020204020204" pitchFamily="34" charset="-122"/>
                  <a:cs typeface="Times New Roman Bold" panose="02020603050405020304" charset="0"/>
                </a:rPr>
                <a:t>2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F15CBA2-E24F-CFDA-B173-9BE3E5C34F99}"/>
              </a:ext>
            </a:extLst>
          </p:cNvPr>
          <p:cNvSpPr/>
          <p:nvPr/>
        </p:nvSpPr>
        <p:spPr>
          <a:xfrm>
            <a:off x="337960" y="1220856"/>
            <a:ext cx="11516078" cy="5245031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31052C-66AA-C9B4-2168-E7E68A21F677}"/>
              </a:ext>
            </a:extLst>
          </p:cNvPr>
          <p:cNvSpPr/>
          <p:nvPr/>
        </p:nvSpPr>
        <p:spPr>
          <a:xfrm>
            <a:off x="1307169" y="952463"/>
            <a:ext cx="9577661" cy="4257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想解决的问题：让“理解”本身成为玩家进度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183E9DE-4C76-0F6A-7E24-F0AA66D51CBE}"/>
              </a:ext>
            </a:extLst>
          </p:cNvPr>
          <p:cNvSpPr/>
          <p:nvPr/>
        </p:nvSpPr>
        <p:spPr>
          <a:xfrm rot="10800000">
            <a:off x="550598" y="1804929"/>
            <a:ext cx="3609284" cy="4372927"/>
          </a:xfrm>
          <a:prstGeom prst="roundRect">
            <a:avLst/>
          </a:prstGeom>
          <a:gradFill flip="none" rotWithShape="1">
            <a:gsLst>
              <a:gs pos="100000">
                <a:schemeClr val="bg1"/>
              </a:gs>
              <a:gs pos="32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3B6FCD8-1B88-A6DE-500D-FBEBB224428C}"/>
              </a:ext>
            </a:extLst>
          </p:cNvPr>
          <p:cNvSpPr/>
          <p:nvPr/>
        </p:nvSpPr>
        <p:spPr>
          <a:xfrm rot="10800000">
            <a:off x="4302773" y="1804929"/>
            <a:ext cx="3609284" cy="4372927"/>
          </a:xfrm>
          <a:prstGeom prst="roundRect">
            <a:avLst/>
          </a:prstGeom>
          <a:gradFill flip="none" rotWithShape="1">
            <a:gsLst>
              <a:gs pos="100000">
                <a:schemeClr val="bg1"/>
              </a:gs>
              <a:gs pos="32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F9E694C-F418-3ADF-9272-1580666A1FCA}"/>
              </a:ext>
            </a:extLst>
          </p:cNvPr>
          <p:cNvSpPr/>
          <p:nvPr/>
        </p:nvSpPr>
        <p:spPr>
          <a:xfrm rot="10800000">
            <a:off x="8054948" y="1804930"/>
            <a:ext cx="3609284" cy="4372927"/>
          </a:xfrm>
          <a:prstGeom prst="roundRect">
            <a:avLst/>
          </a:prstGeom>
          <a:gradFill flip="none" rotWithShape="1">
            <a:gsLst>
              <a:gs pos="100000">
                <a:schemeClr val="bg1"/>
              </a:gs>
              <a:gs pos="32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951D613-53F3-637A-F6DD-3CB1421BD290}"/>
              </a:ext>
            </a:extLst>
          </p:cNvPr>
          <p:cNvSpPr txBox="1"/>
          <p:nvPr/>
        </p:nvSpPr>
        <p:spPr>
          <a:xfrm>
            <a:off x="1338796" y="1870415"/>
            <a:ext cx="20328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玩家体验目标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4F9136-338C-5A51-8A40-C6CB1DEBDC57}"/>
              </a:ext>
            </a:extLst>
          </p:cNvPr>
          <p:cNvSpPr txBox="1"/>
          <p:nvPr/>
        </p:nvSpPr>
        <p:spPr>
          <a:xfrm>
            <a:off x="5407036" y="1870415"/>
            <a:ext cx="1543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设计约束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27DF2F-1EA6-7EA4-64EF-5D4521C19338}"/>
              </a:ext>
            </a:extLst>
          </p:cNvPr>
          <p:cNvSpPr txBox="1"/>
          <p:nvPr/>
        </p:nvSpPr>
        <p:spPr>
          <a:xfrm>
            <a:off x="8843147" y="1870415"/>
            <a:ext cx="20328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核心设计判断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C15BD7F-41DF-5076-36D0-927CEF74D7C9}"/>
              </a:ext>
            </a:extLst>
          </p:cNvPr>
          <p:cNvSpPr txBox="1"/>
          <p:nvPr/>
        </p:nvSpPr>
        <p:spPr>
          <a:xfrm>
            <a:off x="666271" y="2587418"/>
            <a:ext cx="3320212" cy="2807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让玩家通过观察和推理获得突破；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让前一次探索的信息改变下一次行动；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让不同梦境之间形成知识关联。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0BCF23-41AB-F9BB-A217-34FFD864ED6B}"/>
              </a:ext>
            </a:extLst>
          </p:cNvPr>
          <p:cNvSpPr txBox="1"/>
          <p:nvPr/>
        </p:nvSpPr>
        <p:spPr>
          <a:xfrm>
            <a:off x="4423485" y="2587418"/>
            <a:ext cx="3320212" cy="2807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独立制作，资源和开发时间有限；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使用像素表现降低美术制作成本；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通过规则变化和信息组织制造内容深度。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7924624-C135-4DA6-1ACA-05FAEF986018}"/>
              </a:ext>
            </a:extLst>
          </p:cNvPr>
          <p:cNvSpPr txBox="1"/>
          <p:nvPr/>
        </p:nvSpPr>
        <p:spPr>
          <a:xfrm>
            <a:off x="8199484" y="2587418"/>
            <a:ext cx="3320212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玩家不是因为获得更强装备而推进，而是因为理解了一条新规则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785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1FA1-5394-FC96-ADF9-B9B291AA1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436A96D0-E463-8DAA-1133-DC2A38651A64}"/>
              </a:ext>
            </a:extLst>
          </p:cNvPr>
          <p:cNvGrpSpPr/>
          <p:nvPr/>
        </p:nvGrpSpPr>
        <p:grpSpPr>
          <a:xfrm>
            <a:off x="159184" y="2"/>
            <a:ext cx="12032816" cy="779145"/>
            <a:chOff x="830909" y="0"/>
            <a:chExt cx="11361091" cy="103747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44CCDAA-0BDD-060B-02D9-7875D86AD50B}"/>
                </a:ext>
              </a:extLst>
            </p:cNvPr>
            <p:cNvSpPr/>
            <p:nvPr/>
          </p:nvSpPr>
          <p:spPr>
            <a:xfrm>
              <a:off x="1623965" y="198702"/>
              <a:ext cx="3036858" cy="596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核心玩法循环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BFF78EC-124D-0160-0964-8E15766BE62E}"/>
                </a:ext>
              </a:extLst>
            </p:cNvPr>
            <p:cNvSpPr/>
            <p:nvPr/>
          </p:nvSpPr>
          <p:spPr>
            <a:xfrm>
              <a:off x="1016000" y="0"/>
              <a:ext cx="91440" cy="970280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FEB609A-9685-646A-8874-E082597C072A}"/>
                </a:ext>
              </a:extLst>
            </p:cNvPr>
            <p:cNvSpPr/>
            <p:nvPr/>
          </p:nvSpPr>
          <p:spPr>
            <a:xfrm>
              <a:off x="1016000" y="885648"/>
              <a:ext cx="11176000" cy="94791"/>
            </a:xfrm>
            <a:prstGeom prst="rect">
              <a:avLst/>
            </a:prstGeom>
            <a:solidFill>
              <a:srgbClr val="00007F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C96915A-2B87-B74B-8672-2B7275617795}"/>
                </a:ext>
              </a:extLst>
            </p:cNvPr>
            <p:cNvCxnSpPr/>
            <p:nvPr/>
          </p:nvCxnSpPr>
          <p:spPr>
            <a:xfrm flipV="1">
              <a:off x="1016000" y="1027872"/>
              <a:ext cx="11176000" cy="9605"/>
            </a:xfrm>
            <a:prstGeom prst="line">
              <a:avLst/>
            </a:prstGeom>
            <a:ln w="38100">
              <a:solidFill>
                <a:srgbClr val="0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8507F2B-D858-0603-6753-372373422E07}"/>
                </a:ext>
              </a:extLst>
            </p:cNvPr>
            <p:cNvSpPr/>
            <p:nvPr/>
          </p:nvSpPr>
          <p:spPr>
            <a:xfrm>
              <a:off x="830909" y="313798"/>
              <a:ext cx="478779" cy="439996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b="1" dirty="0">
                  <a:latin typeface="Times New Roman Bold" panose="02020603050405020304" charset="0"/>
                  <a:ea typeface="微软雅黑" panose="020B0503020204020204" pitchFamily="34" charset="-122"/>
                  <a:cs typeface="Times New Roman Bold" panose="02020603050405020304" charset="0"/>
                </a:rPr>
                <a:t>3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C4FF3E7-98E0-2DFE-0A24-69DA3DFE0043}"/>
              </a:ext>
            </a:extLst>
          </p:cNvPr>
          <p:cNvGrpSpPr/>
          <p:nvPr/>
        </p:nvGrpSpPr>
        <p:grpSpPr>
          <a:xfrm>
            <a:off x="226922" y="835333"/>
            <a:ext cx="11738156" cy="5950999"/>
            <a:chOff x="226922" y="835333"/>
            <a:chExt cx="11738156" cy="5950999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0EE13399-F62D-740C-7C47-369BC5FBE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991" b="6396"/>
            <a:stretch>
              <a:fillRect/>
            </a:stretch>
          </p:blipFill>
          <p:spPr>
            <a:xfrm>
              <a:off x="845137" y="850814"/>
              <a:ext cx="10856943" cy="5935518"/>
            </a:xfrm>
            <a:prstGeom prst="rect">
              <a:avLst/>
            </a:prstGeom>
          </p:spPr>
        </p:pic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D6763FA-B225-90CB-391B-F78C311F12C4}"/>
                </a:ext>
              </a:extLst>
            </p:cNvPr>
            <p:cNvSpPr/>
            <p:nvPr/>
          </p:nvSpPr>
          <p:spPr>
            <a:xfrm>
              <a:off x="226922" y="850814"/>
              <a:ext cx="1110164" cy="5935518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D220170-5EEF-C14B-05DB-80F2DF3D25BA}"/>
                </a:ext>
              </a:extLst>
            </p:cNvPr>
            <p:cNvSpPr/>
            <p:nvPr/>
          </p:nvSpPr>
          <p:spPr>
            <a:xfrm>
              <a:off x="11234716" y="835333"/>
              <a:ext cx="730362" cy="5935518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43F94F8-A3A0-46C2-86DC-87C7E9DB652C}"/>
              </a:ext>
            </a:extLst>
          </p:cNvPr>
          <p:cNvSpPr txBox="1"/>
          <p:nvPr/>
        </p:nvSpPr>
        <p:spPr>
          <a:xfrm>
            <a:off x="236423" y="893650"/>
            <a:ext cx="37407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玩家通过观察与试验理解梦境规则；每次验证结果写入知识进度，改变下一轮探索方案。</a:t>
            </a:r>
            <a:endParaRPr lang="zh-CN" altLang="en-US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8FBB8B6C-C411-AAB9-F9D0-7E3EE07A5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0755" y="1000131"/>
            <a:ext cx="2711529" cy="152838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1CE0BDE4-7F5B-A48B-7EF1-8885C76AE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0755" y="4838700"/>
            <a:ext cx="2719625" cy="1528384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50006F95-E4DD-38D7-CFB2-E619635DA775}"/>
              </a:ext>
            </a:extLst>
          </p:cNvPr>
          <p:cNvGrpSpPr/>
          <p:nvPr/>
        </p:nvGrpSpPr>
        <p:grpSpPr>
          <a:xfrm>
            <a:off x="216235" y="1939112"/>
            <a:ext cx="2297927" cy="1529082"/>
            <a:chOff x="999129" y="1683983"/>
            <a:chExt cx="2297927" cy="1529082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78609BF-8D93-619B-7874-9A3831AA90F5}"/>
                </a:ext>
              </a:extLst>
            </p:cNvPr>
            <p:cNvSpPr/>
            <p:nvPr/>
          </p:nvSpPr>
          <p:spPr>
            <a:xfrm>
              <a:off x="999129" y="1952377"/>
              <a:ext cx="2297927" cy="1260688"/>
            </a:xfrm>
            <a:prstGeom prst="rect">
              <a:avLst/>
            </a:prstGeom>
            <a:noFill/>
            <a:ln w="28575">
              <a:solidFill>
                <a:schemeClr val="accent1">
                  <a:lumMod val="50000"/>
                </a:schemeClr>
              </a:solidFill>
              <a:prstDash val="soli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19CF9A9-001C-20D1-146B-EF8DED822A8A}"/>
                </a:ext>
              </a:extLst>
            </p:cNvPr>
            <p:cNvSpPr/>
            <p:nvPr/>
          </p:nvSpPr>
          <p:spPr>
            <a:xfrm>
              <a:off x="1209019" y="1683983"/>
              <a:ext cx="1857450" cy="42577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玩家状态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DE97993-30D6-57B2-56A1-4379102C2D02}"/>
                </a:ext>
              </a:extLst>
            </p:cNvPr>
            <p:cNvSpPr txBox="1"/>
            <p:nvPr/>
          </p:nvSpPr>
          <p:spPr>
            <a:xfrm>
              <a:off x="1307827" y="2204700"/>
              <a:ext cx="165983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当前所在场景</a:t>
              </a:r>
              <a:endParaRPr lang="en-US" altLang="zh-CN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已知知识</a:t>
              </a:r>
              <a:endParaRPr lang="en-US" altLang="zh-CN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可用交互</a:t>
              </a:r>
              <a:endParaRPr lang="zh-CN" altLang="en-US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4F44CA0-47C3-12C3-FF85-E755C6586B3F}"/>
              </a:ext>
            </a:extLst>
          </p:cNvPr>
          <p:cNvGrpSpPr/>
          <p:nvPr/>
        </p:nvGrpSpPr>
        <p:grpSpPr>
          <a:xfrm>
            <a:off x="216235" y="3674442"/>
            <a:ext cx="2297927" cy="1272416"/>
            <a:chOff x="999129" y="1683983"/>
            <a:chExt cx="2297927" cy="127241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EBE218A-DDC3-E1BD-754B-6F073625CC03}"/>
                </a:ext>
              </a:extLst>
            </p:cNvPr>
            <p:cNvSpPr/>
            <p:nvPr/>
          </p:nvSpPr>
          <p:spPr>
            <a:xfrm>
              <a:off x="999129" y="1952377"/>
              <a:ext cx="2297927" cy="1004022"/>
            </a:xfrm>
            <a:prstGeom prst="rect">
              <a:avLst/>
            </a:prstGeom>
            <a:noFill/>
            <a:ln w="28575">
              <a:solidFill>
                <a:schemeClr val="accent1">
                  <a:lumMod val="50000"/>
                </a:schemeClr>
              </a:solidFill>
              <a:prstDash val="soli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9D76F44-99F6-2537-120A-4685B3C88C42}"/>
                </a:ext>
              </a:extLst>
            </p:cNvPr>
            <p:cNvSpPr/>
            <p:nvPr/>
          </p:nvSpPr>
          <p:spPr>
            <a:xfrm>
              <a:off x="1209019" y="1683983"/>
              <a:ext cx="1857450" cy="42577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系统状态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0B1EDEE-1852-EDBD-722B-6A19E8D0B821}"/>
                </a:ext>
              </a:extLst>
            </p:cNvPr>
            <p:cNvSpPr txBox="1"/>
            <p:nvPr/>
          </p:nvSpPr>
          <p:spPr>
            <a:xfrm>
              <a:off x="1307827" y="2204700"/>
              <a:ext cx="165983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梦境规则</a:t>
              </a:r>
              <a:endParaRPr lang="en-US" altLang="zh-CN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结局触发条件</a:t>
              </a:r>
              <a:endParaRPr lang="en-US" altLang="zh-CN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4B20052-B37E-ECC3-8A67-7385956CD52F}"/>
              </a:ext>
            </a:extLst>
          </p:cNvPr>
          <p:cNvGrpSpPr/>
          <p:nvPr/>
        </p:nvGrpSpPr>
        <p:grpSpPr>
          <a:xfrm>
            <a:off x="216235" y="5153219"/>
            <a:ext cx="2297927" cy="1213865"/>
            <a:chOff x="999129" y="1683983"/>
            <a:chExt cx="2297927" cy="1213865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5D07AEB-30DC-A644-77C9-98DF6CB6E2E2}"/>
                </a:ext>
              </a:extLst>
            </p:cNvPr>
            <p:cNvSpPr/>
            <p:nvPr/>
          </p:nvSpPr>
          <p:spPr>
            <a:xfrm>
              <a:off x="999129" y="1952377"/>
              <a:ext cx="2297927" cy="945471"/>
            </a:xfrm>
            <a:prstGeom prst="rect">
              <a:avLst/>
            </a:prstGeom>
            <a:noFill/>
            <a:ln w="28575">
              <a:solidFill>
                <a:schemeClr val="accent1">
                  <a:lumMod val="50000"/>
                </a:schemeClr>
              </a:solidFill>
              <a:prstDash val="soli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CCF81E1-A864-97B6-2C16-E3158285C5B9}"/>
                </a:ext>
              </a:extLst>
            </p:cNvPr>
            <p:cNvSpPr/>
            <p:nvPr/>
          </p:nvSpPr>
          <p:spPr>
            <a:xfrm>
              <a:off x="1209019" y="1683983"/>
              <a:ext cx="1857450" cy="42577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循环结果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BA9ADB6-186A-7AB2-E55E-BD3AC557A035}"/>
                </a:ext>
              </a:extLst>
            </p:cNvPr>
            <p:cNvSpPr txBox="1"/>
            <p:nvPr/>
          </p:nvSpPr>
          <p:spPr>
            <a:xfrm>
              <a:off x="1307827" y="2204700"/>
              <a:ext cx="165983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场景变化</a:t>
              </a:r>
              <a:endParaRPr lang="en-US" altLang="zh-CN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知识进度保留</a:t>
              </a:r>
              <a:endParaRPr lang="zh-CN" altLang="en-US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3662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5B5D1-1488-03CA-9E61-03B2F2C9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E3175FAD-D193-608A-92F6-DFAB8A419929}"/>
              </a:ext>
            </a:extLst>
          </p:cNvPr>
          <p:cNvGrpSpPr/>
          <p:nvPr/>
        </p:nvGrpSpPr>
        <p:grpSpPr>
          <a:xfrm>
            <a:off x="159184" y="2"/>
            <a:ext cx="12032816" cy="779145"/>
            <a:chOff x="830909" y="0"/>
            <a:chExt cx="11361091" cy="103747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26BE431-99C9-8B66-C889-8350C7BEFDC9}"/>
                </a:ext>
              </a:extLst>
            </p:cNvPr>
            <p:cNvSpPr/>
            <p:nvPr/>
          </p:nvSpPr>
          <p:spPr>
            <a:xfrm>
              <a:off x="1623965" y="198702"/>
              <a:ext cx="3036858" cy="596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核心系统拆解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EB591D2-346C-BD16-013E-A6838A12BD95}"/>
                </a:ext>
              </a:extLst>
            </p:cNvPr>
            <p:cNvSpPr/>
            <p:nvPr/>
          </p:nvSpPr>
          <p:spPr>
            <a:xfrm>
              <a:off x="1016000" y="0"/>
              <a:ext cx="91440" cy="970280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178C9D7-0898-9EE2-E636-00B72461DDDC}"/>
                </a:ext>
              </a:extLst>
            </p:cNvPr>
            <p:cNvSpPr/>
            <p:nvPr/>
          </p:nvSpPr>
          <p:spPr>
            <a:xfrm>
              <a:off x="1016000" y="885648"/>
              <a:ext cx="11176000" cy="94791"/>
            </a:xfrm>
            <a:prstGeom prst="rect">
              <a:avLst/>
            </a:prstGeom>
            <a:solidFill>
              <a:srgbClr val="00007F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6EC74D4-718D-42E4-D982-8BD21F73B299}"/>
                </a:ext>
              </a:extLst>
            </p:cNvPr>
            <p:cNvCxnSpPr/>
            <p:nvPr/>
          </p:nvCxnSpPr>
          <p:spPr>
            <a:xfrm flipV="1">
              <a:off x="1016000" y="1027872"/>
              <a:ext cx="11176000" cy="9605"/>
            </a:xfrm>
            <a:prstGeom prst="line">
              <a:avLst/>
            </a:prstGeom>
            <a:ln w="38100">
              <a:solidFill>
                <a:srgbClr val="0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2DE3E70-CE69-B267-1DDE-59B4043EFC85}"/>
                </a:ext>
              </a:extLst>
            </p:cNvPr>
            <p:cNvSpPr/>
            <p:nvPr/>
          </p:nvSpPr>
          <p:spPr>
            <a:xfrm>
              <a:off x="830909" y="313798"/>
              <a:ext cx="478779" cy="439996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b="1" dirty="0">
                  <a:latin typeface="Times New Roman Bold" panose="02020603050405020304" charset="0"/>
                  <a:ea typeface="微软雅黑" panose="020B0503020204020204" pitchFamily="34" charset="-122"/>
                  <a:cs typeface="Times New Roman Bold" panose="02020603050405020304" charset="0"/>
                </a:rPr>
                <a:t>4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56251437-62F3-17FD-3DA3-439519366E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17" t="11056" r="8016" b="20871"/>
          <a:stretch>
            <a:fillRect/>
          </a:stretch>
        </p:blipFill>
        <p:spPr>
          <a:xfrm>
            <a:off x="-10957" y="1514191"/>
            <a:ext cx="12202957" cy="510814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BB53257-D773-C4AE-4C1C-AFE89EB1F2EE}"/>
              </a:ext>
            </a:extLst>
          </p:cNvPr>
          <p:cNvSpPr txBox="1"/>
          <p:nvPr/>
        </p:nvSpPr>
        <p:spPr>
          <a:xfrm>
            <a:off x="355219" y="1013412"/>
            <a:ext cx="11356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玩家输入触发规则判定；事实、锁与梦境状态通过事件协作，最终回流到日志、场景反馈和存档。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730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975E2-B77E-3056-22FD-402DD4298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94181582-63CC-7E09-3528-44869A9FB508}"/>
              </a:ext>
            </a:extLst>
          </p:cNvPr>
          <p:cNvGrpSpPr/>
          <p:nvPr/>
        </p:nvGrpSpPr>
        <p:grpSpPr>
          <a:xfrm>
            <a:off x="159184" y="2"/>
            <a:ext cx="12032816" cy="779145"/>
            <a:chOff x="830909" y="0"/>
            <a:chExt cx="11361091" cy="103747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C52904-67B6-BFF0-B85E-C0281C23F9BB}"/>
                </a:ext>
              </a:extLst>
            </p:cNvPr>
            <p:cNvSpPr/>
            <p:nvPr/>
          </p:nvSpPr>
          <p:spPr>
            <a:xfrm>
              <a:off x="1623965" y="198702"/>
              <a:ext cx="3036858" cy="596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三种梦境规则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D9D7367-460E-A36E-2F69-9330CF372763}"/>
                </a:ext>
              </a:extLst>
            </p:cNvPr>
            <p:cNvSpPr/>
            <p:nvPr/>
          </p:nvSpPr>
          <p:spPr>
            <a:xfrm>
              <a:off x="1016000" y="0"/>
              <a:ext cx="91440" cy="970280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F5E2391-B25F-A042-28FE-55B7C673E999}"/>
                </a:ext>
              </a:extLst>
            </p:cNvPr>
            <p:cNvSpPr/>
            <p:nvPr/>
          </p:nvSpPr>
          <p:spPr>
            <a:xfrm>
              <a:off x="1016000" y="885648"/>
              <a:ext cx="11176000" cy="94791"/>
            </a:xfrm>
            <a:prstGeom prst="rect">
              <a:avLst/>
            </a:prstGeom>
            <a:solidFill>
              <a:srgbClr val="00007F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FB95006-A735-A4D7-C4DE-79DA259D46AD}"/>
                </a:ext>
              </a:extLst>
            </p:cNvPr>
            <p:cNvCxnSpPr/>
            <p:nvPr/>
          </p:nvCxnSpPr>
          <p:spPr>
            <a:xfrm flipV="1">
              <a:off x="1016000" y="1027872"/>
              <a:ext cx="11176000" cy="9605"/>
            </a:xfrm>
            <a:prstGeom prst="line">
              <a:avLst/>
            </a:prstGeom>
            <a:ln w="38100">
              <a:solidFill>
                <a:srgbClr val="0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8D4778B-6CE1-E4AA-FFDC-F596983C878C}"/>
                </a:ext>
              </a:extLst>
            </p:cNvPr>
            <p:cNvSpPr/>
            <p:nvPr/>
          </p:nvSpPr>
          <p:spPr>
            <a:xfrm>
              <a:off x="830909" y="313798"/>
              <a:ext cx="478779" cy="439996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b="1" dirty="0">
                  <a:latin typeface="Times New Roman Bold" panose="02020603050405020304" charset="0"/>
                  <a:ea typeface="微软雅黑" panose="020B0503020204020204" pitchFamily="34" charset="-122"/>
                  <a:cs typeface="Times New Roman Bold" panose="02020603050405020304" charset="0"/>
                </a:rPr>
                <a:t>5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91A30E0-3F01-E115-0E99-BA17418195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08" b="24604"/>
          <a:stretch>
            <a:fillRect/>
          </a:stretch>
        </p:blipFill>
        <p:spPr>
          <a:xfrm>
            <a:off x="37106" y="1291789"/>
            <a:ext cx="12117788" cy="389682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A9266F5-EABD-6C85-0D6B-7C1376C5E76B}"/>
              </a:ext>
            </a:extLst>
          </p:cNvPr>
          <p:cNvSpPr txBox="1"/>
          <p:nvPr/>
        </p:nvSpPr>
        <p:spPr>
          <a:xfrm>
            <a:off x="355219" y="922457"/>
            <a:ext cx="11427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每个梦境先让玩家观察异常，再用一次可操作的验证建立核心事实；事实随后成为其他梦境的解锁条件。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40488A0-3FE8-1B60-990F-6466BD2C4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71" y="5188609"/>
            <a:ext cx="2874066" cy="162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3484CCF-2152-FAD8-12DC-AD4175858D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6924" y="5188609"/>
            <a:ext cx="2518152" cy="162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6A4604A-B89F-0D10-1703-08259A01E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4826" y="5188609"/>
            <a:ext cx="2648367" cy="16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687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B4DE-F22F-2372-EA91-ACE6B050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F2999CC6-72CD-B80F-B8D0-8942C8E726FC}"/>
              </a:ext>
            </a:extLst>
          </p:cNvPr>
          <p:cNvGrpSpPr/>
          <p:nvPr/>
        </p:nvGrpSpPr>
        <p:grpSpPr>
          <a:xfrm>
            <a:off x="159184" y="2"/>
            <a:ext cx="12032816" cy="779145"/>
            <a:chOff x="830909" y="0"/>
            <a:chExt cx="11361091" cy="103747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DA32E91-FB04-E296-0356-DD0CEEA5C04A}"/>
                </a:ext>
              </a:extLst>
            </p:cNvPr>
            <p:cNvSpPr/>
            <p:nvPr/>
          </p:nvSpPr>
          <p:spPr>
            <a:xfrm>
              <a:off x="1623965" y="198702"/>
              <a:ext cx="3036858" cy="596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Unity</a:t>
              </a: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8DB1F64-18DB-1025-87BA-963CC77B0E53}"/>
                </a:ext>
              </a:extLst>
            </p:cNvPr>
            <p:cNvSpPr/>
            <p:nvPr/>
          </p:nvSpPr>
          <p:spPr>
            <a:xfrm>
              <a:off x="1016000" y="0"/>
              <a:ext cx="91440" cy="970280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7D3B5A0-DDCA-4AF9-A389-4A34700965B9}"/>
                </a:ext>
              </a:extLst>
            </p:cNvPr>
            <p:cNvSpPr/>
            <p:nvPr/>
          </p:nvSpPr>
          <p:spPr>
            <a:xfrm>
              <a:off x="1016000" y="885648"/>
              <a:ext cx="11176000" cy="94791"/>
            </a:xfrm>
            <a:prstGeom prst="rect">
              <a:avLst/>
            </a:prstGeom>
            <a:solidFill>
              <a:srgbClr val="00007F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016F1F0-60AF-072D-7C76-0FE34CC4A664}"/>
                </a:ext>
              </a:extLst>
            </p:cNvPr>
            <p:cNvCxnSpPr/>
            <p:nvPr/>
          </p:nvCxnSpPr>
          <p:spPr>
            <a:xfrm flipV="1">
              <a:off x="1016000" y="1027872"/>
              <a:ext cx="11176000" cy="9605"/>
            </a:xfrm>
            <a:prstGeom prst="line">
              <a:avLst/>
            </a:prstGeom>
            <a:ln w="38100">
              <a:solidFill>
                <a:srgbClr val="0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C462B56-4CC3-7F5E-D65B-03B87C53EF20}"/>
                </a:ext>
              </a:extLst>
            </p:cNvPr>
            <p:cNvSpPr/>
            <p:nvPr/>
          </p:nvSpPr>
          <p:spPr>
            <a:xfrm>
              <a:off x="830909" y="313798"/>
              <a:ext cx="478779" cy="439996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b="1" dirty="0">
                  <a:latin typeface="Times New Roman Bold" panose="02020603050405020304" charset="0"/>
                  <a:ea typeface="微软雅黑" panose="020B0503020204020204" pitchFamily="34" charset="-122"/>
                  <a:cs typeface="Times New Roman Bold" panose="02020603050405020304" charset="0"/>
                </a:rPr>
                <a:t>6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E0B13D6-8E53-5123-D711-F7F0E4AF2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16193"/>
            <a:ext cx="12192000" cy="519258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513E20B-42FB-31D4-002C-250DDB6DD547}"/>
              </a:ext>
            </a:extLst>
          </p:cNvPr>
          <p:cNvSpPr txBox="1"/>
          <p:nvPr/>
        </p:nvSpPr>
        <p:spPr>
          <a:xfrm>
            <a:off x="159184" y="869862"/>
            <a:ext cx="11836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交互控制器只调度行为，</a:t>
            </a:r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 </a:t>
            </a:r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管理知识与锁的真实状态，</a:t>
            </a:r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View </a:t>
            </a:r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订阅事件并渲染反馈；</a:t>
            </a:r>
            <a:endParaRPr lang="en-US" altLang="zh-CN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内容通过数据资产配置，状态通过存档持久化。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915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8B452-319E-E0E7-DE01-6B2837836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EE2F6386-53C9-2000-56EF-69D8595F908C}"/>
              </a:ext>
            </a:extLst>
          </p:cNvPr>
          <p:cNvGrpSpPr/>
          <p:nvPr/>
        </p:nvGrpSpPr>
        <p:grpSpPr>
          <a:xfrm>
            <a:off x="159184" y="2"/>
            <a:ext cx="12032816" cy="779145"/>
            <a:chOff x="830909" y="0"/>
            <a:chExt cx="11361091" cy="103747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1519656-6FF0-70C7-9502-5D2F5DAF1088}"/>
                </a:ext>
              </a:extLst>
            </p:cNvPr>
            <p:cNvSpPr/>
            <p:nvPr/>
          </p:nvSpPr>
          <p:spPr>
            <a:xfrm>
              <a:off x="1623965" y="198702"/>
              <a:ext cx="3036858" cy="596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执行与测试迭代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9766F1F-53E2-6E2C-F39F-366BF1784E8E}"/>
                </a:ext>
              </a:extLst>
            </p:cNvPr>
            <p:cNvSpPr/>
            <p:nvPr/>
          </p:nvSpPr>
          <p:spPr>
            <a:xfrm>
              <a:off x="1016000" y="0"/>
              <a:ext cx="91440" cy="970280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131C8D1-AD38-1984-E344-3C303A217FF6}"/>
                </a:ext>
              </a:extLst>
            </p:cNvPr>
            <p:cNvSpPr/>
            <p:nvPr/>
          </p:nvSpPr>
          <p:spPr>
            <a:xfrm>
              <a:off x="1016000" y="885648"/>
              <a:ext cx="11176000" cy="94791"/>
            </a:xfrm>
            <a:prstGeom prst="rect">
              <a:avLst/>
            </a:prstGeom>
            <a:solidFill>
              <a:srgbClr val="00007F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B524AA47-2285-D377-0F52-7AB2CE6AAC34}"/>
                </a:ext>
              </a:extLst>
            </p:cNvPr>
            <p:cNvCxnSpPr/>
            <p:nvPr/>
          </p:nvCxnSpPr>
          <p:spPr>
            <a:xfrm flipV="1">
              <a:off x="1016000" y="1027872"/>
              <a:ext cx="11176000" cy="9605"/>
            </a:xfrm>
            <a:prstGeom prst="line">
              <a:avLst/>
            </a:prstGeom>
            <a:ln w="38100">
              <a:solidFill>
                <a:srgbClr val="0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E684E37-54B9-61B8-2F77-FCC38A5E2EC7}"/>
                </a:ext>
              </a:extLst>
            </p:cNvPr>
            <p:cNvSpPr/>
            <p:nvPr/>
          </p:nvSpPr>
          <p:spPr>
            <a:xfrm>
              <a:off x="830909" y="313798"/>
              <a:ext cx="478779" cy="439996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b="1" dirty="0">
                  <a:latin typeface="Times New Roman Bold" panose="02020603050405020304" charset="0"/>
                  <a:ea typeface="微软雅黑" panose="020B0503020204020204" pitchFamily="34" charset="-122"/>
                  <a:cs typeface="Times New Roman Bold" panose="02020603050405020304" charset="0"/>
                </a:rPr>
                <a:t>7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5E2FEF7-18FC-B4AD-B5B6-FF230B22F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64344"/>
            <a:ext cx="12192000" cy="57011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211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65B37-DE12-75A9-069A-DA23AD364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D0894060-73AA-159B-D5C3-62DA57C4C263}"/>
              </a:ext>
            </a:extLst>
          </p:cNvPr>
          <p:cNvGrpSpPr/>
          <p:nvPr/>
        </p:nvGrpSpPr>
        <p:grpSpPr>
          <a:xfrm>
            <a:off x="159184" y="2"/>
            <a:ext cx="12032816" cy="779145"/>
            <a:chOff x="830909" y="0"/>
            <a:chExt cx="11361091" cy="103747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2184C42-1820-801F-8F88-4E2CF5E245DE}"/>
                </a:ext>
              </a:extLst>
            </p:cNvPr>
            <p:cNvSpPr/>
            <p:nvPr/>
          </p:nvSpPr>
          <p:spPr>
            <a:xfrm>
              <a:off x="1623965" y="198702"/>
              <a:ext cx="3036858" cy="5965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执行与测试迭代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9D2CE67-D81F-046E-FA1F-CAAAABC0D45C}"/>
                </a:ext>
              </a:extLst>
            </p:cNvPr>
            <p:cNvSpPr/>
            <p:nvPr/>
          </p:nvSpPr>
          <p:spPr>
            <a:xfrm>
              <a:off x="1016000" y="0"/>
              <a:ext cx="91440" cy="970280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CBDED98-BDC5-5FC3-53A8-D32CCF91A7A9}"/>
                </a:ext>
              </a:extLst>
            </p:cNvPr>
            <p:cNvSpPr/>
            <p:nvPr/>
          </p:nvSpPr>
          <p:spPr>
            <a:xfrm>
              <a:off x="1016000" y="885648"/>
              <a:ext cx="11176000" cy="94791"/>
            </a:xfrm>
            <a:prstGeom prst="rect">
              <a:avLst/>
            </a:prstGeom>
            <a:solidFill>
              <a:srgbClr val="00007F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3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CE1A29D-0EAF-AC11-734F-1660FEEFF4FF}"/>
                </a:ext>
              </a:extLst>
            </p:cNvPr>
            <p:cNvCxnSpPr/>
            <p:nvPr/>
          </p:nvCxnSpPr>
          <p:spPr>
            <a:xfrm flipV="1">
              <a:off x="1016000" y="1027872"/>
              <a:ext cx="11176000" cy="9605"/>
            </a:xfrm>
            <a:prstGeom prst="line">
              <a:avLst/>
            </a:prstGeom>
            <a:ln w="38100">
              <a:solidFill>
                <a:srgbClr val="0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150101D-DC0F-3C74-9901-8A7CE67B18F5}"/>
                </a:ext>
              </a:extLst>
            </p:cNvPr>
            <p:cNvSpPr/>
            <p:nvPr/>
          </p:nvSpPr>
          <p:spPr>
            <a:xfrm>
              <a:off x="830909" y="313798"/>
              <a:ext cx="478779" cy="439996"/>
            </a:xfrm>
            <a:prstGeom prst="rect">
              <a:avLst/>
            </a:prstGeom>
            <a:solidFill>
              <a:srgbClr val="000080"/>
            </a:solidFill>
            <a:ln>
              <a:solidFill>
                <a:srgbClr val="00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b="1" dirty="0">
                  <a:latin typeface="Times New Roman Bold" panose="02020603050405020304" charset="0"/>
                  <a:ea typeface="微软雅黑" panose="020B0503020204020204" pitchFamily="34" charset="-122"/>
                  <a:cs typeface="Times New Roman Bold" panose="02020603050405020304" charset="0"/>
                </a:rPr>
                <a:t>7</a:t>
              </a:r>
            </a:p>
          </p:txBody>
        </p:sp>
      </p:grp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83D3076-D4A8-477A-F1E5-67FE25FC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964300"/>
              </p:ext>
            </p:extLst>
          </p:nvPr>
        </p:nvGraphicFramePr>
        <p:xfrm>
          <a:off x="227937" y="1093104"/>
          <a:ext cx="11736126" cy="5245357"/>
        </p:xfrm>
        <a:graphic>
          <a:graphicData uri="http://schemas.openxmlformats.org/drawingml/2006/table">
            <a:tbl>
              <a:tblPr/>
              <a:tblGrid>
                <a:gridCol w="2655735">
                  <a:extLst>
                    <a:ext uri="{9D8B030D-6E8A-4147-A177-3AD203B41FA5}">
                      <a16:colId xmlns:a16="http://schemas.microsoft.com/office/drawing/2014/main" val="1181686860"/>
                    </a:ext>
                  </a:extLst>
                </a:gridCol>
                <a:gridCol w="2846567">
                  <a:extLst>
                    <a:ext uri="{9D8B030D-6E8A-4147-A177-3AD203B41FA5}">
                      <a16:colId xmlns:a16="http://schemas.microsoft.com/office/drawing/2014/main" val="2122539798"/>
                    </a:ext>
                  </a:extLst>
                </a:gridCol>
                <a:gridCol w="3517128">
                  <a:extLst>
                    <a:ext uri="{9D8B030D-6E8A-4147-A177-3AD203B41FA5}">
                      <a16:colId xmlns:a16="http://schemas.microsoft.com/office/drawing/2014/main" val="3588202477"/>
                    </a:ext>
                  </a:extLst>
                </a:gridCol>
                <a:gridCol w="2716696">
                  <a:extLst>
                    <a:ext uri="{9D8B030D-6E8A-4147-A177-3AD203B41FA5}">
                      <a16:colId xmlns:a16="http://schemas.microsoft.com/office/drawing/2014/main" val="253954332"/>
                    </a:ext>
                  </a:extLst>
                </a:gridCol>
              </a:tblGrid>
              <a:tr h="381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测试问题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原因判断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调整方式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验证结果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712496"/>
                  </a:ext>
                </a:extLst>
              </a:tr>
              <a:tr h="66735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日志无法翻页或空章节像失效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空章节没有占位反馈，也缺少键盘翻章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增加空章节占位文案；支持左右方向键切换章节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日志点击路径和翻页测试通过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19431"/>
                  </a:ext>
                </a:extLst>
              </a:tr>
              <a:tr h="66735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单一俯视角无法表现物理和 </a:t>
                      </a:r>
                      <a:r>
                        <a:rPr lang="en-US" altLang="zh-CN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Meta </a:t>
                      </a: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情感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俯视角难以表现慢运动轨迹，也无法形成终章正视和对视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建立 </a:t>
                      </a:r>
                      <a:r>
                        <a:rPr lang="en-US" altLang="zh-CN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A/B </a:t>
                      </a: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视角路由：中枢</a:t>
                      </a:r>
                      <a:r>
                        <a:rPr lang="en-US" altLang="zh-CN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回声俯视，倒影</a:t>
                      </a:r>
                      <a:r>
                        <a:rPr lang="en-US" altLang="zh-CN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静止侧视，终章正视；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230315"/>
                  </a:ext>
                </a:extLst>
              </a:tr>
              <a:tr h="38134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结局触发条件不清楚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条件反馈不足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增加状态提示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玩家能理解行为后果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595724"/>
                  </a:ext>
                </a:extLst>
              </a:tr>
              <a:tr h="38134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终章条件满足后仍无法进入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终章事实、跨梦锁和运行时登记不一致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修正 </a:t>
                      </a:r>
                      <a:r>
                        <a:rPr lang="en-US" altLang="zh-CN" sz="1800" b="1" kern="12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FactRegistry</a:t>
                      </a: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、终章锁判断和事实登记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用户已实际进入终章；</a:t>
                      </a:r>
                      <a:r>
                        <a:rPr lang="en-US" altLang="zh-CN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M4 </a:t>
                      </a: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与 </a:t>
                      </a:r>
                      <a:r>
                        <a:rPr lang="en-US" altLang="zh-CN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SV </a:t>
                      </a: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流程覆盖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103362"/>
                  </a:ext>
                </a:extLst>
              </a:tr>
              <a:tr h="38134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主角跳跃才能开窗，不符合 </a:t>
                      </a:r>
                      <a:r>
                        <a:rPr lang="en-US" altLang="zh-CN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Meta </a:t>
                      </a: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开窗交互依赖主角位置和跳跃高度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增加鼠标点击窗户；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用户已确认鼠标点击可以开窗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331916"/>
                  </a:ext>
                </a:extLst>
              </a:tr>
              <a:tr h="3813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 b="1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·····</a:t>
                      </a:r>
                      <a:endParaRPr lang="zh-CN" altLang="en-US" sz="1800" b="1" kern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88892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0005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5|9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5|9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5|9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5|9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5|9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5|9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5|9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5|9.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472</Words>
  <Application>Microsoft Office PowerPoint</Application>
  <PresentationFormat>宽屏</PresentationFormat>
  <Paragraphs>78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微软雅黑</vt:lpstr>
      <vt:lpstr>Arial</vt:lpstr>
      <vt:lpstr>Times New Roman 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智超 李</dc:creator>
  <cp:lastModifiedBy>智超 李</cp:lastModifiedBy>
  <cp:revision>1</cp:revision>
  <dcterms:created xsi:type="dcterms:W3CDTF">2026-09-08T16:10:30Z</dcterms:created>
  <dcterms:modified xsi:type="dcterms:W3CDTF">2026-09-09T01:28:08Z</dcterms:modified>
</cp:coreProperties>
</file>